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77" r:id="rId2"/>
    <p:sldId id="256"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 id="272" r:id="rId17"/>
    <p:sldId id="27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A0F2"/>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1" autoAdjust="0"/>
    <p:restoredTop sz="94721" autoAdjust="0"/>
  </p:normalViewPr>
  <p:slideViewPr>
    <p:cSldViewPr>
      <p:cViewPr>
        <p:scale>
          <a:sx n="100" d="100"/>
          <a:sy n="100" d="100"/>
        </p:scale>
        <p:origin x="-1104"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AB68874-0363-4469-8E94-4E9A07A68BE2}" type="datetimeFigureOut">
              <a:rPr lang="en-US" smtClean="0"/>
              <a:pPr/>
              <a:t>9/23/2026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B68874-0363-4469-8E94-4E9A07A68BE2}"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5"/>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AB68874-0363-4469-8E94-4E9A07A68BE2}"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AB68874-0363-4469-8E94-4E9A07A68BE2}"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1"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1859758"/>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1" y="2514601"/>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6" y="2514601"/>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AB68874-0363-4469-8E94-4E9A07A68BE2}" type="datetimeFigureOut">
              <a:rPr lang="en-US" smtClean="0"/>
              <a:pPr/>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AB68874-0363-4469-8E94-4E9A07A68BE2}" type="datetimeFigureOut">
              <a:rPr lang="en-US" smtClean="0"/>
              <a:pPr/>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B68874-0363-4469-8E94-4E9A07A68BE2}" type="datetimeFigureOut">
              <a:rPr lang="en-US" smtClean="0"/>
              <a:pPr/>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1"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AB68874-0363-4469-8E94-4E9A07A68BE2}"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5"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7"/>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AB68874-0363-4469-8E94-4E9A07A68BE2}" type="datetimeFigureOut">
              <a:rPr lang="en-US" smtClean="0"/>
              <a:pPr/>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1"/>
            <a:ext cx="609600" cy="365125"/>
          </a:xfrm>
        </p:spPr>
        <p:txBody>
          <a:bodyPr/>
          <a:lstStyle/>
          <a:p>
            <a:fld id="{B8AFCA23-E6CC-496E-B15F-E0946D61B4B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6" y="5816601"/>
            <a:ext cx="9163051"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1" y="6219826"/>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B68874-0363-4469-8E94-4E9A07A68BE2}"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2"/>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2"/>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AB68874-0363-4469-8E94-4E9A07A68BE2}" type="datetimeFigureOut">
              <a:rPr lang="en-US" smtClean="0"/>
              <a:pPr/>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AFCA23-E6CC-496E-B15F-E0946D61B4B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6" y="-7144"/>
            <a:ext cx="9163051"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1"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1"/>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AB68874-0363-4469-8E94-4E9A07A68BE2}" type="datetimeFigureOut">
              <a:rPr lang="en-US" smtClean="0"/>
              <a:pPr/>
              <a:t>9/23/2026</a:t>
            </a:fld>
            <a:endParaRPr lang="en-US"/>
          </a:p>
        </p:txBody>
      </p:sp>
      <p:sp>
        <p:nvSpPr>
          <p:cNvPr id="22" name="Footer Placeholder 21"/>
          <p:cNvSpPr>
            <a:spLocks noGrp="1"/>
          </p:cNvSpPr>
          <p:nvPr>
            <p:ph type="ftr" sz="quarter" idx="3"/>
          </p:nvPr>
        </p:nvSpPr>
        <p:spPr>
          <a:xfrm>
            <a:off x="2667000" y="6356351"/>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1"/>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8AFCA23-E6CC-496E-B15F-E0946D61B4B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857232"/>
            <a:ext cx="8501122" cy="5170646"/>
          </a:xfrm>
          <a:prstGeom prst="rect">
            <a:avLst/>
          </a:prstGeom>
          <a:noFill/>
        </p:spPr>
        <p:txBody>
          <a:bodyPr wrap="square" rtlCol="0">
            <a:spAutoFit/>
          </a:bodyPr>
          <a:lstStyle/>
          <a:p>
            <a:pPr algn="ctr"/>
            <a:r>
              <a:rPr lang="en-IN" sz="6600" dirty="0" smtClean="0">
                <a:ln>
                  <a:solidFill>
                    <a:srgbClr val="00B0F0"/>
                  </a:solidFill>
                </a:ln>
                <a:solidFill>
                  <a:schemeClr val="accent5">
                    <a:lumMod val="60000"/>
                    <a:lumOff val="40000"/>
                  </a:schemeClr>
                </a:solidFill>
                <a:effectLst>
                  <a:outerShdw blurRad="50800" dist="38100" algn="l" rotWithShape="0">
                    <a:prstClr val="black">
                      <a:alpha val="40000"/>
                    </a:prstClr>
                  </a:outerShdw>
                </a:effectLst>
                <a:latin typeface="Bahnschrift SemiBold Condensed" pitchFamily="34" charset="0"/>
              </a:rPr>
              <a:t>          ONLINE FOOD DELIVERY                    WEBSITE</a:t>
            </a:r>
          </a:p>
          <a:p>
            <a:pPr algn="ctr"/>
            <a:endParaRPr lang="en-IN" sz="6600" dirty="0" smtClean="0">
              <a:ln>
                <a:solidFill>
                  <a:srgbClr val="00B0F0"/>
                </a:solidFill>
              </a:ln>
              <a:solidFill>
                <a:schemeClr val="accent5">
                  <a:lumMod val="60000"/>
                  <a:lumOff val="40000"/>
                </a:schemeClr>
              </a:solidFill>
              <a:effectLst>
                <a:outerShdw blurRad="50800" dist="38100" algn="l" rotWithShape="0">
                  <a:prstClr val="black">
                    <a:alpha val="40000"/>
                  </a:prstClr>
                </a:outerShdw>
              </a:effectLst>
              <a:latin typeface="Bahnschrift SemiBold Condensed" pitchFamily="34" charset="0"/>
            </a:endParaRPr>
          </a:p>
          <a:p>
            <a:pPr algn="ctr"/>
            <a:endParaRPr lang="en-IN" sz="6600" dirty="0" smtClean="0">
              <a:ln>
                <a:solidFill>
                  <a:srgbClr val="00B0F0"/>
                </a:solidFill>
              </a:ln>
              <a:solidFill>
                <a:schemeClr val="accent5">
                  <a:lumMod val="60000"/>
                  <a:lumOff val="40000"/>
                </a:schemeClr>
              </a:solidFill>
              <a:effectLst>
                <a:outerShdw blurRad="50800" dist="38100" algn="l" rotWithShape="0">
                  <a:prstClr val="black">
                    <a:alpha val="40000"/>
                  </a:prstClr>
                </a:outerShdw>
              </a:effectLst>
              <a:latin typeface="Bahnschrift SemiBold Condensed" pitchFamily="34" charset="0"/>
            </a:endParaRPr>
          </a:p>
          <a:p>
            <a:pPr algn="ctr"/>
            <a:endParaRPr lang="en-IN" sz="6600" dirty="0" smtClean="0">
              <a:ln>
                <a:solidFill>
                  <a:srgbClr val="00B0F0"/>
                </a:solidFill>
              </a:ln>
              <a:solidFill>
                <a:schemeClr val="accent5">
                  <a:lumMod val="60000"/>
                  <a:lumOff val="40000"/>
                </a:schemeClr>
              </a:solidFill>
              <a:effectLst>
                <a:outerShdw blurRad="50800" dist="38100" algn="l" rotWithShape="0">
                  <a:prstClr val="black">
                    <a:alpha val="40000"/>
                  </a:prstClr>
                </a:outerShdw>
              </a:effectLst>
              <a:latin typeface="Bahnschrift SemiBold Condensed" pitchFamily="34" charset="0"/>
            </a:endParaRPr>
          </a:p>
        </p:txBody>
      </p:sp>
      <p:sp>
        <p:nvSpPr>
          <p:cNvPr id="6" name="Oval 5"/>
          <p:cNvSpPr/>
          <p:nvPr/>
        </p:nvSpPr>
        <p:spPr>
          <a:xfrm>
            <a:off x="4929190" y="2643182"/>
            <a:ext cx="3429024" cy="3357586"/>
          </a:xfrm>
          <a:prstGeom prst="ellipse">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p:cNvPicPr>
            <a:picLocks noChangeAspect="1" noChangeArrowheads="1"/>
          </p:cNvPicPr>
          <p:nvPr/>
        </p:nvPicPr>
        <p:blipFill>
          <a:blip r:embed="rId3"/>
          <a:srcRect/>
          <a:stretch>
            <a:fillRect/>
          </a:stretch>
        </p:blipFill>
        <p:spPr bwMode="auto">
          <a:xfrm>
            <a:off x="357158" y="3000372"/>
            <a:ext cx="4357718" cy="3429023"/>
          </a:xfrm>
          <a:prstGeom prst="rect">
            <a:avLst/>
          </a:prstGeom>
          <a:noFill/>
          <a:ln w="9525">
            <a:noFill/>
            <a:miter lim="800000"/>
            <a:headEnd/>
            <a:tailEnd/>
          </a:ln>
          <a:effectLst/>
        </p:spPr>
      </p:pic>
      <p:sp>
        <p:nvSpPr>
          <p:cNvPr id="8" name="Oval 7"/>
          <p:cNvSpPr/>
          <p:nvPr/>
        </p:nvSpPr>
        <p:spPr>
          <a:xfrm>
            <a:off x="428596" y="1142984"/>
            <a:ext cx="1928826" cy="1857388"/>
          </a:xfrm>
          <a:prstGeom prst="ellipse">
            <a:avLst/>
          </a:prstGeom>
          <a:blipFill>
            <a:blip r:embed="rId4"/>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00100" y="487025"/>
            <a:ext cx="7143800" cy="6370975"/>
          </a:xfrm>
          <a:prstGeom prst="rect">
            <a:avLst/>
          </a:prstGeom>
          <a:noFill/>
        </p:spPr>
        <p:txBody>
          <a:bodyPr wrap="square" rtlCol="0">
            <a:spAutoFit/>
          </a:bodyPr>
          <a:lstStyle/>
          <a:p>
            <a:r>
              <a:rPr lang="en-US" sz="2400" b="1" dirty="0">
                <a:solidFill>
                  <a:schemeClr val="tx1">
                    <a:lumMod val="95000"/>
                    <a:lumOff val="5000"/>
                  </a:schemeClr>
                </a:solidFill>
                <a:latin typeface="+mj-lt"/>
              </a:rPr>
              <a:t> </a:t>
            </a:r>
            <a:r>
              <a:rPr lang="en-US" sz="2400" b="1" dirty="0" smtClean="0">
                <a:solidFill>
                  <a:schemeClr val="tx1">
                    <a:lumMod val="95000"/>
                    <a:lumOff val="5000"/>
                  </a:schemeClr>
                </a:solidFill>
                <a:latin typeface="+mj-lt"/>
              </a:rPr>
              <a:t>                          </a:t>
            </a:r>
          </a:p>
          <a:p>
            <a:r>
              <a:rPr lang="en-US" sz="2400" b="1" dirty="0">
                <a:solidFill>
                  <a:schemeClr val="tx1">
                    <a:lumMod val="95000"/>
                    <a:lumOff val="5000"/>
                  </a:schemeClr>
                </a:solidFill>
                <a:latin typeface="+mj-lt"/>
              </a:rPr>
              <a:t> </a:t>
            </a:r>
            <a:r>
              <a:rPr lang="en-US" sz="2400" b="1" dirty="0" smtClean="0">
                <a:solidFill>
                  <a:schemeClr val="tx1">
                    <a:lumMod val="95000"/>
                    <a:lumOff val="5000"/>
                  </a:schemeClr>
                </a:solidFill>
                <a:latin typeface="+mj-lt"/>
              </a:rPr>
              <a:t>                      </a:t>
            </a:r>
          </a:p>
          <a:p>
            <a:endParaRPr lang="en-US" sz="2400" b="1" dirty="0">
              <a:solidFill>
                <a:schemeClr val="tx1">
                  <a:lumMod val="95000"/>
                  <a:lumOff val="5000"/>
                </a:schemeClr>
              </a:solidFill>
              <a:latin typeface="+mj-lt"/>
            </a:endParaRPr>
          </a:p>
          <a:p>
            <a:r>
              <a:rPr lang="en-US" sz="2400" b="1" dirty="0" smtClean="0">
                <a:solidFill>
                  <a:schemeClr val="tx1">
                    <a:lumMod val="95000"/>
                    <a:lumOff val="5000"/>
                  </a:schemeClr>
                </a:solidFill>
                <a:latin typeface="+mj-lt"/>
              </a:rPr>
              <a:t>                  </a:t>
            </a:r>
          </a:p>
          <a:p>
            <a:r>
              <a:rPr lang="en-US" sz="2400" b="1" dirty="0">
                <a:solidFill>
                  <a:schemeClr val="tx1">
                    <a:lumMod val="95000"/>
                    <a:lumOff val="5000"/>
                  </a:schemeClr>
                </a:solidFill>
                <a:latin typeface="+mj-lt"/>
              </a:rPr>
              <a:t> </a:t>
            </a:r>
            <a:endParaRPr lang="en-US" sz="2400" dirty="0" smtClean="0"/>
          </a:p>
          <a:p>
            <a:r>
              <a:rPr lang="en-US" sz="2800" b="1" dirty="0" smtClean="0">
                <a:solidFill>
                  <a:schemeClr val="tx1">
                    <a:lumMod val="95000"/>
                    <a:lumOff val="5000"/>
                  </a:schemeClr>
                </a:solidFill>
                <a:latin typeface="+mj-lt"/>
              </a:rPr>
              <a:t>            </a:t>
            </a:r>
            <a:r>
              <a:rPr lang="en-US" sz="2800" b="1" dirty="0" smtClean="0">
                <a:solidFill>
                  <a:schemeClr val="tx1">
                    <a:lumMod val="95000"/>
                    <a:lumOff val="5000"/>
                  </a:schemeClr>
                </a:solidFill>
                <a:latin typeface="+mj-lt"/>
              </a:rPr>
              <a:t>     </a:t>
            </a:r>
            <a:r>
              <a:rPr lang="en-IN" sz="3600" b="1" dirty="0" smtClean="0">
                <a:solidFill>
                  <a:schemeClr val="accent5">
                    <a:lumMod val="50000"/>
                  </a:schemeClr>
                </a:solidFill>
                <a:latin typeface="Bell MT" pitchFamily="18" charset="0"/>
              </a:rPr>
              <a:t>FoodieExpress </a:t>
            </a:r>
            <a:endParaRPr lang="en-IN" sz="3600" b="1" dirty="0" smtClean="0">
              <a:solidFill>
                <a:schemeClr val="accent5">
                  <a:lumMod val="50000"/>
                </a:schemeClr>
              </a:solidFill>
              <a:latin typeface="Bell MT" pitchFamily="18" charset="0"/>
            </a:endParaRPr>
          </a:p>
          <a:p>
            <a:r>
              <a:rPr lang="en-IN" sz="3200" b="1" dirty="0">
                <a:solidFill>
                  <a:schemeClr val="accent5">
                    <a:lumMod val="50000"/>
                  </a:schemeClr>
                </a:solidFill>
                <a:latin typeface="Bell MT" pitchFamily="18" charset="0"/>
              </a:rPr>
              <a:t> </a:t>
            </a:r>
            <a:r>
              <a:rPr lang="en-IN" sz="3200" b="1" dirty="0" smtClean="0">
                <a:solidFill>
                  <a:schemeClr val="accent5">
                    <a:lumMod val="50000"/>
                  </a:schemeClr>
                </a:solidFill>
                <a:latin typeface="Bell MT" pitchFamily="18" charset="0"/>
              </a:rPr>
              <a:t>         </a:t>
            </a:r>
          </a:p>
          <a:p>
            <a:r>
              <a:rPr lang="en-IN" sz="3200" b="1" dirty="0">
                <a:solidFill>
                  <a:schemeClr val="accent1">
                    <a:lumMod val="50000"/>
                  </a:schemeClr>
                </a:solidFill>
                <a:latin typeface="Bell MT" pitchFamily="18" charset="0"/>
              </a:rPr>
              <a:t> </a:t>
            </a:r>
            <a:r>
              <a:rPr lang="en-IN" sz="3200" b="1" dirty="0" smtClean="0">
                <a:solidFill>
                  <a:schemeClr val="accent1">
                    <a:lumMod val="50000"/>
                  </a:schemeClr>
                </a:solidFill>
                <a:latin typeface="Bell MT" pitchFamily="18" charset="0"/>
              </a:rPr>
              <a:t>             </a:t>
            </a:r>
            <a:r>
              <a:rPr lang="en-IN" sz="4400" b="1" dirty="0" smtClean="0">
                <a:solidFill>
                  <a:schemeClr val="accent1">
                    <a:lumMod val="50000"/>
                  </a:schemeClr>
                </a:solidFill>
                <a:latin typeface="Calibri" pitchFamily="34" charset="0"/>
                <a:ea typeface="Calibri" pitchFamily="34" charset="0"/>
                <a:cs typeface="Calibri" pitchFamily="34" charset="0"/>
              </a:rPr>
              <a:t>Presentation on </a:t>
            </a:r>
          </a:p>
          <a:p>
            <a:r>
              <a:rPr lang="en-IN" sz="2400" b="1" dirty="0" smtClean="0">
                <a:solidFill>
                  <a:schemeClr val="accent1">
                    <a:lumMod val="50000"/>
                  </a:schemeClr>
                </a:solidFill>
                <a:latin typeface="+mj-lt"/>
              </a:rPr>
              <a:t> </a:t>
            </a:r>
            <a:r>
              <a:rPr lang="en-IN" sz="4000" b="1" dirty="0" smtClean="0">
                <a:solidFill>
                  <a:schemeClr val="accent1">
                    <a:lumMod val="50000"/>
                  </a:schemeClr>
                </a:solidFill>
                <a:latin typeface="Calibri" pitchFamily="34" charset="0"/>
                <a:ea typeface="Calibri" pitchFamily="34" charset="0"/>
                <a:cs typeface="Calibri" pitchFamily="34" charset="0"/>
              </a:rPr>
              <a:t>Online Food Delivery website</a:t>
            </a:r>
          </a:p>
          <a:p>
            <a:endParaRPr lang="en-IN" sz="2800" b="1" dirty="0">
              <a:solidFill>
                <a:schemeClr val="tx2">
                  <a:lumMod val="50000"/>
                </a:schemeClr>
              </a:solidFill>
              <a:latin typeface="Bahnschrift SemiBold Condensed" pitchFamily="34" charset="0"/>
            </a:endParaRPr>
          </a:p>
          <a:p>
            <a:endParaRPr lang="en-IN" sz="2800" b="1" dirty="0">
              <a:solidFill>
                <a:schemeClr val="tx2">
                  <a:lumMod val="50000"/>
                </a:schemeClr>
              </a:solidFill>
              <a:latin typeface="Bahnschrift SemiBold Condensed" pitchFamily="34" charset="0"/>
            </a:endParaRPr>
          </a:p>
          <a:p>
            <a:r>
              <a:rPr lang="en-IN" sz="2800" b="1" dirty="0" smtClean="0">
                <a:latin typeface="Bell MT" pitchFamily="18" charset="0"/>
              </a:rPr>
              <a:t>Submitted to:-              Submitted by:-</a:t>
            </a:r>
          </a:p>
          <a:p>
            <a:r>
              <a:rPr lang="en-IN" sz="2800" b="1" dirty="0" smtClean="0">
                <a:latin typeface="Bell MT" pitchFamily="18" charset="0"/>
              </a:rPr>
              <a:t>Mrs. Neeru Jain            Anjali Kumari</a:t>
            </a:r>
          </a:p>
          <a:p>
            <a:r>
              <a:rPr lang="en-IN" sz="2800" b="1" dirty="0">
                <a:latin typeface="Bell MT" pitchFamily="18" charset="0"/>
              </a:rPr>
              <a:t> </a:t>
            </a:r>
            <a:r>
              <a:rPr lang="en-IN" sz="2800" b="1" dirty="0" smtClean="0">
                <a:latin typeface="Bell MT" pitchFamily="18" charset="0"/>
              </a:rPr>
              <a:t>                                           Komal</a:t>
            </a:r>
          </a:p>
        </p:txBody>
      </p:sp>
      <p:pic>
        <p:nvPicPr>
          <p:cNvPr id="1026" name="Picture 2"/>
          <p:cNvPicPr>
            <a:picLocks noChangeAspect="1" noChangeArrowheads="1"/>
          </p:cNvPicPr>
          <p:nvPr/>
        </p:nvPicPr>
        <p:blipFill>
          <a:blip r:embed="rId2" cstate="print"/>
          <a:srcRect/>
          <a:stretch>
            <a:fillRect/>
          </a:stretch>
        </p:blipFill>
        <p:spPr bwMode="auto">
          <a:xfrm>
            <a:off x="6500826" y="2500306"/>
            <a:ext cx="1214446" cy="1214446"/>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3643306" y="928670"/>
            <a:ext cx="4000528" cy="1245983"/>
          </a:xfrm>
          <a:prstGeom prst="rect">
            <a:avLst/>
          </a:prstGeom>
          <a:noFill/>
          <a:ln w="9525">
            <a:noFill/>
            <a:miter lim="800000"/>
            <a:headEnd/>
            <a:tailEnd/>
          </a:ln>
          <a:effectLst/>
        </p:spPr>
      </p:pic>
      <p:pic>
        <p:nvPicPr>
          <p:cNvPr id="1028" name="Picture 4" descr="Vidyavati Mukand Lal Girls College Ghaziabad (U.P)"/>
          <p:cNvPicPr>
            <a:picLocks noChangeAspect="1" noChangeArrowheads="1"/>
          </p:cNvPicPr>
          <p:nvPr/>
        </p:nvPicPr>
        <p:blipFill>
          <a:blip r:embed="rId4"/>
          <a:srcRect/>
          <a:stretch>
            <a:fillRect/>
          </a:stretch>
        </p:blipFill>
        <p:spPr bwMode="auto">
          <a:xfrm>
            <a:off x="1142976" y="642918"/>
            <a:ext cx="1880050" cy="1714512"/>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71604" y="1142984"/>
            <a:ext cx="184731" cy="369332"/>
          </a:xfrm>
          <a:prstGeom prst="rect">
            <a:avLst/>
          </a:prstGeom>
          <a:noFill/>
        </p:spPr>
        <p:txBody>
          <a:bodyPr wrap="none" rtlCol="0">
            <a:spAutoFit/>
          </a:bodyPr>
          <a:lstStyle/>
          <a:p>
            <a:endParaRPr lang="en-US" i="1" dirty="0"/>
          </a:p>
        </p:txBody>
      </p:sp>
      <p:sp>
        <p:nvSpPr>
          <p:cNvPr id="7" name="TextBox 6"/>
          <p:cNvSpPr txBox="1"/>
          <p:nvPr/>
        </p:nvSpPr>
        <p:spPr>
          <a:xfrm>
            <a:off x="428596" y="714356"/>
            <a:ext cx="7929618" cy="8679299"/>
          </a:xfrm>
          <a:prstGeom prst="rect">
            <a:avLst/>
          </a:prstGeom>
          <a:noFill/>
        </p:spPr>
        <p:txBody>
          <a:bodyPr wrap="square" numCol="1" rtlCol="0">
            <a:spAutoFit/>
          </a:bodyPr>
          <a:lstStyle/>
          <a:p>
            <a:r>
              <a:rPr lang="en-IN" sz="4000" b="1" dirty="0">
                <a:latin typeface="Bell MT" pitchFamily="18" charset="0"/>
              </a:rPr>
              <a:t> </a:t>
            </a:r>
            <a:r>
              <a:rPr lang="en-IN" sz="4000" b="1" dirty="0" smtClean="0">
                <a:latin typeface="Bell MT" pitchFamily="18" charset="0"/>
              </a:rPr>
              <a:t>         INTRODUCTION</a:t>
            </a:r>
          </a:p>
          <a:p>
            <a:pPr>
              <a:buFont typeface="Wingdings" pitchFamily="2" charset="2"/>
              <a:buChar char="v"/>
            </a:pPr>
            <a:endParaRPr lang="en-IN" sz="2000" b="1" dirty="0" smtClean="0">
              <a:latin typeface="Calibri" pitchFamily="34" charset="0"/>
              <a:ea typeface="Calibri" pitchFamily="34" charset="0"/>
              <a:cs typeface="Calibri" pitchFamily="34" charset="0"/>
            </a:endParaRPr>
          </a:p>
          <a:p>
            <a:endParaRPr lang="en-US" sz="2000" dirty="0" smtClean="0"/>
          </a:p>
          <a:p>
            <a:endParaRPr lang="en-US" sz="2000" dirty="0" smtClean="0"/>
          </a:p>
          <a:p>
            <a:endParaRPr lang="en-US" sz="2000" dirty="0">
              <a:latin typeface="Calibri" pitchFamily="34" charset="0"/>
              <a:ea typeface="Calibri" pitchFamily="34" charset="0"/>
              <a:cs typeface="Calibri" pitchFamily="34" charset="0"/>
            </a:endParaRPr>
          </a:p>
          <a:p>
            <a:endParaRPr lang="en-US" sz="2000" dirty="0" smtClean="0">
              <a:latin typeface="Calibri" pitchFamily="34" charset="0"/>
              <a:ea typeface="Calibri" pitchFamily="34" charset="0"/>
              <a:cs typeface="Calibri" pitchFamily="34" charset="0"/>
            </a:endParaRPr>
          </a:p>
          <a:p>
            <a:pPr algn="ctr"/>
            <a:endParaRPr lang="en-US" sz="2000" dirty="0" smtClean="0">
              <a:latin typeface="Calibri" pitchFamily="34" charset="0"/>
              <a:ea typeface="Calibri" pitchFamily="34" charset="0"/>
              <a:cs typeface="Calibri" pitchFamily="34" charset="0"/>
            </a:endParaRPr>
          </a:p>
          <a:p>
            <a:pPr algn="ctr"/>
            <a:endParaRPr lang="en-US" sz="2000" dirty="0">
              <a:latin typeface="Calibri" pitchFamily="34" charset="0"/>
              <a:ea typeface="Calibri" pitchFamily="34" charset="0"/>
              <a:cs typeface="Calibri" pitchFamily="34" charset="0"/>
            </a:endParaRPr>
          </a:p>
          <a:p>
            <a:pPr algn="ctr"/>
            <a:endParaRPr lang="en-US" sz="2000" dirty="0" smtClean="0">
              <a:latin typeface="Calibri" pitchFamily="34" charset="0"/>
              <a:ea typeface="Calibri" pitchFamily="34" charset="0"/>
              <a:cs typeface="Calibri" pitchFamily="34" charset="0"/>
            </a:endParaRPr>
          </a:p>
          <a:p>
            <a:pPr algn="ctr"/>
            <a:endParaRPr lang="en-US" sz="2000" dirty="0" smtClean="0">
              <a:latin typeface="Calibri" pitchFamily="34" charset="0"/>
              <a:ea typeface="Calibri" pitchFamily="34" charset="0"/>
              <a:cs typeface="Calibri" pitchFamily="34" charset="0"/>
            </a:endParaRPr>
          </a:p>
          <a:p>
            <a:pPr algn="ctr"/>
            <a:endParaRPr lang="en-US" sz="2000" dirty="0">
              <a:latin typeface="Calibri" pitchFamily="34" charset="0"/>
              <a:ea typeface="Calibri" pitchFamily="34" charset="0"/>
              <a:cs typeface="Calibri" pitchFamily="34" charset="0"/>
            </a:endParaRPr>
          </a:p>
          <a:p>
            <a:pPr algn="ctr"/>
            <a:r>
              <a:rPr lang="en-US" sz="2000" dirty="0" smtClean="0">
                <a:latin typeface="Calibri" pitchFamily="34" charset="0"/>
                <a:ea typeface="Calibri" pitchFamily="34" charset="0"/>
                <a:cs typeface="Calibri" pitchFamily="34" charset="0"/>
              </a:rPr>
              <a:t>“FoodieExpress is an online food delivery website. We created this website using HTML, CSS and JavaScript. It allows users to view different food items with their prices, search for food, add food items to the cart and place an order. The website has different pages like Home, Login, Sign Up, Menu, Cart, Checkout, Order Placed and Admin Panel. Our main aim is to make food ordering easy, simple and convenient for users.”</a:t>
            </a:r>
            <a:r>
              <a:rPr lang="en-IN" sz="2000" dirty="0" smtClean="0">
                <a:latin typeface="Calibri" pitchFamily="34" charset="0"/>
                <a:ea typeface="Calibri" pitchFamily="34" charset="0"/>
                <a:cs typeface="Calibri" pitchFamily="34" charset="0"/>
              </a:rPr>
              <a:t>  </a:t>
            </a:r>
          </a:p>
          <a:p>
            <a:endParaRPr lang="en-IN" sz="2000" dirty="0">
              <a:latin typeface="Calibri" pitchFamily="34" charset="0"/>
              <a:ea typeface="Calibri" pitchFamily="34" charset="0"/>
              <a:cs typeface="Calibri" pitchFamily="34" charset="0"/>
            </a:endParaRPr>
          </a:p>
          <a:p>
            <a:endParaRPr lang="en-IN" sz="2000" dirty="0" smtClean="0">
              <a:latin typeface="Calibri" pitchFamily="34" charset="0"/>
              <a:ea typeface="Calibri" pitchFamily="34" charset="0"/>
              <a:cs typeface="Calibri" pitchFamily="34" charset="0"/>
            </a:endParaRPr>
          </a:p>
          <a:p>
            <a:endParaRPr lang="en-IN" sz="2000" dirty="0">
              <a:latin typeface="Calibri" pitchFamily="34" charset="0"/>
              <a:ea typeface="Calibri" pitchFamily="34" charset="0"/>
              <a:cs typeface="Calibri" pitchFamily="34" charset="0"/>
            </a:endParaRPr>
          </a:p>
          <a:p>
            <a:endParaRPr lang="en-IN" sz="2000" dirty="0" smtClean="0">
              <a:latin typeface="Calibri" pitchFamily="34" charset="0"/>
              <a:ea typeface="Calibri" pitchFamily="34" charset="0"/>
              <a:cs typeface="Calibri" pitchFamily="34" charset="0"/>
            </a:endParaRPr>
          </a:p>
          <a:p>
            <a:endParaRPr lang="en-IN" sz="2000" dirty="0">
              <a:latin typeface="Calibri" pitchFamily="34" charset="0"/>
              <a:ea typeface="Calibri" pitchFamily="34" charset="0"/>
              <a:cs typeface="Calibri" pitchFamily="34" charset="0"/>
            </a:endParaRPr>
          </a:p>
          <a:p>
            <a:endParaRPr lang="en-IN" sz="2000" dirty="0" smtClean="0">
              <a:latin typeface="Calibri" pitchFamily="34" charset="0"/>
              <a:ea typeface="Calibri" pitchFamily="34" charset="0"/>
              <a:cs typeface="Calibri" pitchFamily="34" charset="0"/>
            </a:endParaRPr>
          </a:p>
          <a:p>
            <a:endParaRPr lang="en-US" sz="2000" dirty="0" smtClean="0"/>
          </a:p>
          <a:p>
            <a:endParaRPr lang="en-US" sz="2000" dirty="0" smtClean="0"/>
          </a:p>
          <a:p>
            <a:endParaRPr lang="en-IN" sz="2000" dirty="0" smtClean="0">
              <a:latin typeface="Calibri" pitchFamily="34" charset="0"/>
              <a:ea typeface="Calibri" pitchFamily="34" charset="0"/>
              <a:cs typeface="Calibri" pitchFamily="34" charset="0"/>
            </a:endParaRPr>
          </a:p>
        </p:txBody>
      </p:sp>
      <p:pic>
        <p:nvPicPr>
          <p:cNvPr id="1026" name="Picture 2"/>
          <p:cNvPicPr>
            <a:picLocks noChangeAspect="1" noChangeArrowheads="1"/>
          </p:cNvPicPr>
          <p:nvPr/>
        </p:nvPicPr>
        <p:blipFill>
          <a:blip r:embed="rId2"/>
          <a:srcRect/>
          <a:stretch>
            <a:fillRect/>
          </a:stretch>
        </p:blipFill>
        <p:spPr bwMode="auto">
          <a:xfrm>
            <a:off x="857224" y="1500174"/>
            <a:ext cx="7143800" cy="2602988"/>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00100" y="1000108"/>
            <a:ext cx="6591676" cy="5632311"/>
          </a:xfrm>
          <a:prstGeom prst="rect">
            <a:avLst/>
          </a:prstGeom>
          <a:noFill/>
        </p:spPr>
        <p:txBody>
          <a:bodyPr wrap="none" rtlCol="0">
            <a:spAutoFit/>
          </a:bodyPr>
          <a:lstStyle/>
          <a:p>
            <a:r>
              <a:rPr lang="en-IN" sz="4000" b="1" dirty="0" smtClean="0">
                <a:latin typeface="Bell MT" pitchFamily="18" charset="0"/>
              </a:rPr>
              <a:t>OBJECTIVE</a:t>
            </a:r>
            <a:r>
              <a:rPr lang="en-US" sz="4000" b="1" dirty="0" smtClean="0">
                <a:latin typeface="Bell MT" pitchFamily="18" charset="0"/>
              </a:rPr>
              <a:t>S</a:t>
            </a:r>
          </a:p>
          <a:p>
            <a:pPr>
              <a:buFont typeface="Wingdings" pitchFamily="2" charset="2"/>
              <a:buChar char="v"/>
            </a:pPr>
            <a:endParaRPr lang="en-IN" sz="2000" b="1" dirty="0">
              <a:latin typeface="Calibri" pitchFamily="34" charset="0"/>
              <a:ea typeface="Calibri" pitchFamily="34" charset="0"/>
              <a:cs typeface="Calibri" pitchFamily="34" charset="0"/>
            </a:endParaRPr>
          </a:p>
          <a:p>
            <a:pPr>
              <a:buFont typeface="Wingdings" pitchFamily="2" charset="2"/>
              <a:buChar char="v"/>
            </a:pPr>
            <a:endParaRPr lang="en-US" sz="2000" dirty="0" smtClean="0"/>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To provide an easy online food ordering system.</a:t>
            </a:r>
          </a:p>
          <a:p>
            <a:pPr>
              <a:buFont typeface="Wingdings" pitchFamily="2" charset="2"/>
              <a:buChar char="v"/>
            </a:pPr>
            <a:r>
              <a:rPr lang="en-IN" sz="2000" dirty="0" smtClean="0">
                <a:latin typeface="Calibri" pitchFamily="34" charset="0"/>
                <a:ea typeface="Calibri" pitchFamily="34" charset="0"/>
                <a:cs typeface="Calibri" pitchFamily="34" charset="0"/>
              </a:rPr>
              <a:t>To allow users to register and log in.</a:t>
            </a:r>
          </a:p>
          <a:p>
            <a:pPr>
              <a:buFont typeface="Wingdings" pitchFamily="2" charset="2"/>
              <a:buChar char="v"/>
            </a:pPr>
            <a:r>
              <a:rPr lang="en-IN" sz="2000" dirty="0" smtClean="0">
                <a:latin typeface="Calibri" pitchFamily="34" charset="0"/>
                <a:ea typeface="Calibri" pitchFamily="34" charset="0"/>
                <a:cs typeface="Calibri" pitchFamily="34" charset="0"/>
              </a:rPr>
              <a:t>To display food items with price and details.</a:t>
            </a:r>
          </a:p>
          <a:p>
            <a:pPr>
              <a:buFont typeface="Wingdings" pitchFamily="2" charset="2"/>
              <a:buChar char="v"/>
            </a:pPr>
            <a:r>
              <a:rPr lang="en-IN" sz="2000" dirty="0" smtClean="0">
                <a:latin typeface="Calibri" pitchFamily="34" charset="0"/>
                <a:ea typeface="Calibri" pitchFamily="34" charset="0"/>
                <a:cs typeface="Calibri" pitchFamily="34" charset="0"/>
              </a:rPr>
              <a:t>To allow users to add , update and remove cart items.</a:t>
            </a:r>
          </a:p>
          <a:p>
            <a:pPr>
              <a:buFont typeface="Wingdings" pitchFamily="2" charset="2"/>
              <a:buChar char="v"/>
            </a:pPr>
            <a:r>
              <a:rPr lang="en-IN" sz="2000" dirty="0" smtClean="0">
                <a:latin typeface="Calibri" pitchFamily="34" charset="0"/>
                <a:ea typeface="Calibri" pitchFamily="34" charset="0"/>
                <a:cs typeface="Calibri" pitchFamily="34" charset="0"/>
              </a:rPr>
              <a:t>To provide a simple checkout and order placement process.</a:t>
            </a:r>
          </a:p>
          <a:p>
            <a:pPr>
              <a:buFont typeface="Wingdings" pitchFamily="2" charset="2"/>
              <a:buChar char="v"/>
            </a:pPr>
            <a:r>
              <a:rPr lang="en-IN" sz="2000" dirty="0" smtClean="0">
                <a:latin typeface="Calibri" pitchFamily="34" charset="0"/>
                <a:ea typeface="Calibri" pitchFamily="34" charset="0"/>
                <a:cs typeface="Calibri" pitchFamily="34" charset="0"/>
              </a:rPr>
              <a:t>To provide and admin panel for the project.</a:t>
            </a:r>
          </a:p>
          <a:p>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p:txBody>
      </p:sp>
      <p:pic>
        <p:nvPicPr>
          <p:cNvPr id="2050" name="Picture 2"/>
          <p:cNvPicPr>
            <a:picLocks noChangeAspect="1" noChangeArrowheads="1"/>
          </p:cNvPicPr>
          <p:nvPr/>
        </p:nvPicPr>
        <p:blipFill>
          <a:blip r:embed="rId2"/>
          <a:srcRect/>
          <a:stretch>
            <a:fillRect/>
          </a:stretch>
        </p:blipFill>
        <p:spPr bwMode="auto">
          <a:xfrm>
            <a:off x="1142975" y="1643050"/>
            <a:ext cx="6699099" cy="2214578"/>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85786" y="1000108"/>
            <a:ext cx="7632796" cy="5159634"/>
          </a:xfrm>
          <a:prstGeom prst="rect">
            <a:avLst/>
          </a:prstGeom>
          <a:noFill/>
        </p:spPr>
        <p:txBody>
          <a:bodyPr wrap="square" rtlCol="0">
            <a:spAutoFit/>
          </a:bodyPr>
          <a:lstStyle/>
          <a:p>
            <a:r>
              <a:rPr lang="en-IN" sz="4000" b="1" dirty="0" smtClean="0">
                <a:latin typeface="Bell MT" pitchFamily="18" charset="0"/>
              </a:rPr>
              <a:t>ADVANTAGES</a:t>
            </a:r>
            <a:endParaRPr lang="en-IN" sz="4000" b="1" dirty="0" smtClean="0">
              <a:latin typeface="Bell MT" pitchFamily="18"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Easy Ordering :- User can select food and place and order easily.</a:t>
            </a:r>
          </a:p>
          <a:p>
            <a:pPr>
              <a:buFont typeface="Wingdings" pitchFamily="2" charset="2"/>
              <a:buChar char="v"/>
            </a:pPr>
            <a:r>
              <a:rPr lang="en-IN" sz="2000" dirty="0" smtClean="0">
                <a:latin typeface="Calibri" pitchFamily="34" charset="0"/>
                <a:ea typeface="Calibri" pitchFamily="34" charset="0"/>
                <a:cs typeface="Calibri" pitchFamily="34" charset="0"/>
              </a:rPr>
              <a:t>Saves Time:- Users do not need to visit  the restaurant first .</a:t>
            </a:r>
          </a:p>
          <a:p>
            <a:pPr>
              <a:buFont typeface="Wingdings" pitchFamily="2" charset="2"/>
              <a:buChar char="v"/>
            </a:pPr>
            <a:r>
              <a:rPr lang="en-IN" sz="2000" dirty="0" smtClean="0">
                <a:latin typeface="Calibri" pitchFamily="34" charset="0"/>
                <a:ea typeface="Calibri" pitchFamily="34" charset="0"/>
                <a:cs typeface="Calibri" pitchFamily="34" charset="0"/>
              </a:rPr>
              <a:t>Easy Cart:- Quantity can be increased , decreased or removed.</a:t>
            </a:r>
          </a:p>
          <a:p>
            <a:pPr>
              <a:buFont typeface="Wingdings" pitchFamily="2" charset="2"/>
              <a:buChar char="v"/>
            </a:pPr>
            <a:r>
              <a:rPr lang="en-IN" sz="2000" dirty="0" smtClean="0">
                <a:latin typeface="Calibri" pitchFamily="34" charset="0"/>
                <a:ea typeface="Calibri" pitchFamily="34" charset="0"/>
                <a:cs typeface="Calibri" pitchFamily="34" charset="0"/>
              </a:rPr>
              <a:t>Food Details:- Names, Prices and Categories are clearly shown.</a:t>
            </a:r>
          </a:p>
          <a:p>
            <a:pPr>
              <a:buFont typeface="Wingdings" pitchFamily="2" charset="2"/>
              <a:buChar char="v"/>
            </a:pPr>
            <a:r>
              <a:rPr lang="en-IN" sz="2000" dirty="0" smtClean="0">
                <a:latin typeface="Calibri" pitchFamily="34" charset="0"/>
                <a:ea typeface="Calibri" pitchFamily="34" charset="0"/>
                <a:cs typeface="Calibri" pitchFamily="34" charset="0"/>
              </a:rPr>
              <a:t>Simple Interface:- The website is easy to understand.</a:t>
            </a:r>
          </a:p>
          <a:p>
            <a:pPr>
              <a:buFont typeface="Wingdings" pitchFamily="2" charset="2"/>
              <a:buChar char="v"/>
            </a:pPr>
            <a:r>
              <a:rPr lang="en-IN" sz="2000" dirty="0" smtClean="0">
                <a:latin typeface="Calibri" pitchFamily="34" charset="0"/>
                <a:ea typeface="Calibri" pitchFamily="34" charset="0"/>
                <a:cs typeface="Calibri" pitchFamily="34" charset="0"/>
              </a:rPr>
              <a:t>Admin Panel:- Provides a separate area for basic management. </a:t>
            </a:r>
            <a:endParaRPr lang="en-US" sz="2000" dirty="0">
              <a:latin typeface="Calibri" pitchFamily="34" charset="0"/>
              <a:ea typeface="Calibri" pitchFamily="34" charset="0"/>
              <a:cs typeface="Calibri" pitchFamily="34" charset="0"/>
            </a:endParaRPr>
          </a:p>
        </p:txBody>
      </p:sp>
      <p:pic>
        <p:nvPicPr>
          <p:cNvPr id="3074" name="Picture 2"/>
          <p:cNvPicPr>
            <a:picLocks noChangeAspect="1" noChangeArrowheads="1"/>
          </p:cNvPicPr>
          <p:nvPr/>
        </p:nvPicPr>
        <p:blipFill>
          <a:blip r:embed="rId2"/>
          <a:srcRect/>
          <a:stretch>
            <a:fillRect/>
          </a:stretch>
        </p:blipFill>
        <p:spPr bwMode="auto">
          <a:xfrm>
            <a:off x="857224" y="1714488"/>
            <a:ext cx="6643734" cy="2236505"/>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8662" y="1142984"/>
            <a:ext cx="6390211" cy="5016758"/>
          </a:xfrm>
          <a:prstGeom prst="rect">
            <a:avLst/>
          </a:prstGeom>
          <a:noFill/>
        </p:spPr>
        <p:txBody>
          <a:bodyPr wrap="none" rtlCol="0">
            <a:spAutoFit/>
          </a:bodyPr>
          <a:lstStyle/>
          <a:p>
            <a:r>
              <a:rPr lang="en-IN" sz="4000" b="1" dirty="0" smtClean="0">
                <a:latin typeface="Bell MT" pitchFamily="18" charset="0"/>
              </a:rPr>
              <a:t>SCOPE</a:t>
            </a:r>
          </a:p>
          <a:p>
            <a:pPr>
              <a:buFont typeface="Wingdings" pitchFamily="2" charset="2"/>
              <a:buChar char="v"/>
            </a:pPr>
            <a:endParaRPr lang="en-US" sz="2000" dirty="0"/>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Customers can browser different food items.</a:t>
            </a:r>
          </a:p>
          <a:p>
            <a:pPr>
              <a:buFont typeface="Wingdings" pitchFamily="2" charset="2"/>
              <a:buChar char="v"/>
            </a:pPr>
            <a:r>
              <a:rPr lang="en-IN" sz="2000" dirty="0" smtClean="0">
                <a:latin typeface="Calibri" pitchFamily="34" charset="0"/>
                <a:ea typeface="Calibri" pitchFamily="34" charset="0"/>
                <a:cs typeface="Calibri" pitchFamily="34" charset="0"/>
              </a:rPr>
              <a:t>Customers can search and select food by category .</a:t>
            </a:r>
          </a:p>
          <a:p>
            <a:pPr>
              <a:buFont typeface="Wingdings" pitchFamily="2" charset="2"/>
              <a:buChar char="v"/>
            </a:pPr>
            <a:r>
              <a:rPr lang="en-IN" sz="2000" dirty="0" smtClean="0">
                <a:latin typeface="Calibri" pitchFamily="34" charset="0"/>
                <a:ea typeface="Calibri" pitchFamily="34" charset="0"/>
                <a:cs typeface="Calibri" pitchFamily="34" charset="0"/>
              </a:rPr>
              <a:t>The cart stores selected items and calculates the total.</a:t>
            </a:r>
          </a:p>
          <a:p>
            <a:pPr>
              <a:buFont typeface="Wingdings" pitchFamily="2" charset="2"/>
              <a:buChar char="v"/>
            </a:pPr>
            <a:r>
              <a:rPr lang="en-IN" sz="2000" dirty="0" smtClean="0">
                <a:latin typeface="Calibri" pitchFamily="34" charset="0"/>
                <a:ea typeface="Calibri" pitchFamily="34" charset="0"/>
                <a:cs typeface="Calibri" pitchFamily="34" charset="0"/>
              </a:rPr>
              <a:t>Checkout collects customer  and delivery details.</a:t>
            </a:r>
          </a:p>
          <a:p>
            <a:pPr>
              <a:buFont typeface="Wingdings" pitchFamily="2" charset="2"/>
              <a:buChar char="v"/>
            </a:pPr>
            <a:r>
              <a:rPr lang="en-IN" sz="2000" dirty="0" smtClean="0">
                <a:latin typeface="Calibri" pitchFamily="34" charset="0"/>
                <a:ea typeface="Calibri" pitchFamily="34" charset="0"/>
                <a:cs typeface="Calibri" pitchFamily="34" charset="0"/>
              </a:rPr>
              <a:t>Order confirmation can be shown after placing and order.</a:t>
            </a:r>
          </a:p>
          <a:p>
            <a:r>
              <a:rPr lang="en-IN" sz="2000" dirty="0" smtClean="0">
                <a:latin typeface="Calibri" pitchFamily="34" charset="0"/>
                <a:ea typeface="Calibri" pitchFamily="34" charset="0"/>
                <a:cs typeface="Calibri" pitchFamily="34" charset="0"/>
              </a:rPr>
              <a:t> </a:t>
            </a:r>
            <a:endParaRPr lang="en-US" sz="2000" dirty="0">
              <a:latin typeface="Calibri" pitchFamily="34" charset="0"/>
              <a:ea typeface="Calibri" pitchFamily="34" charset="0"/>
              <a:cs typeface="Calibri" pitchFamily="34" charset="0"/>
            </a:endParaRPr>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077962" y="2012454"/>
            <a:ext cx="6091610" cy="204569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99592" y="1196752"/>
            <a:ext cx="8031942" cy="4708981"/>
          </a:xfrm>
          <a:prstGeom prst="rect">
            <a:avLst/>
          </a:prstGeom>
          <a:noFill/>
        </p:spPr>
        <p:txBody>
          <a:bodyPr wrap="none" rtlCol="0">
            <a:spAutoFit/>
          </a:bodyPr>
          <a:lstStyle/>
          <a:p>
            <a:r>
              <a:rPr lang="en-US" sz="4000" b="1" dirty="0" smtClean="0">
                <a:latin typeface="Bell MT" pitchFamily="18" charset="0"/>
              </a:rPr>
              <a:t>TECHNICAL DETAILS</a:t>
            </a:r>
          </a:p>
          <a:p>
            <a:endParaRPr lang="en-US" sz="2000" dirty="0">
              <a:latin typeface="Calibri" pitchFamily="34" charset="0"/>
              <a:cs typeface="Calibri" pitchFamily="34" charset="0"/>
            </a:endParaRPr>
          </a:p>
          <a:p>
            <a:pPr marL="342900" indent="-342900">
              <a:buFont typeface="Wingdings" pitchFamily="2" charset="2"/>
              <a:buChar char="v"/>
            </a:pPr>
            <a:endParaRPr lang="en-US" sz="2000" dirty="0" smtClean="0">
              <a:latin typeface="Calibri" pitchFamily="34" charset="0"/>
              <a:cs typeface="Calibri" pitchFamily="34" charset="0"/>
            </a:endParaRPr>
          </a:p>
          <a:p>
            <a:pPr marL="342900" indent="-342900">
              <a:buFont typeface="Wingdings" pitchFamily="2" charset="2"/>
              <a:buChar char="v"/>
            </a:pPr>
            <a:endParaRPr lang="en-US" sz="2000" dirty="0">
              <a:latin typeface="Calibri" pitchFamily="34" charset="0"/>
              <a:cs typeface="Calibri" pitchFamily="34" charset="0"/>
            </a:endParaRPr>
          </a:p>
          <a:p>
            <a:pPr marL="342900" indent="-342900">
              <a:buFont typeface="Wingdings" pitchFamily="2" charset="2"/>
              <a:buChar char="v"/>
            </a:pPr>
            <a:endParaRPr lang="en-US" sz="2000" dirty="0" smtClean="0">
              <a:latin typeface="Calibri" pitchFamily="34" charset="0"/>
              <a:cs typeface="Calibri" pitchFamily="34" charset="0"/>
            </a:endParaRPr>
          </a:p>
          <a:p>
            <a:pPr marL="342900" indent="-342900">
              <a:buFont typeface="Wingdings" pitchFamily="2" charset="2"/>
              <a:buChar char="v"/>
            </a:pPr>
            <a:endParaRPr lang="en-US" sz="2000" dirty="0">
              <a:latin typeface="Calibri" pitchFamily="34" charset="0"/>
              <a:cs typeface="Calibri" pitchFamily="34" charset="0"/>
            </a:endParaRPr>
          </a:p>
          <a:p>
            <a:pPr marL="342900" indent="-342900">
              <a:buFont typeface="Wingdings" pitchFamily="2" charset="2"/>
              <a:buChar char="v"/>
            </a:pPr>
            <a:endParaRPr lang="en-US" sz="2000" dirty="0" smtClean="0">
              <a:latin typeface="Calibri" pitchFamily="34" charset="0"/>
              <a:cs typeface="Calibri" pitchFamily="34" charset="0"/>
            </a:endParaRPr>
          </a:p>
          <a:p>
            <a:pPr marL="342900" indent="-342900">
              <a:buFont typeface="Wingdings" pitchFamily="2" charset="2"/>
              <a:buChar char="v"/>
            </a:pPr>
            <a:endParaRPr lang="en-US" sz="2000" dirty="0">
              <a:latin typeface="Calibri" pitchFamily="34" charset="0"/>
              <a:cs typeface="Calibri" pitchFamily="34" charset="0"/>
            </a:endParaRPr>
          </a:p>
          <a:p>
            <a:pPr marL="342900" indent="-342900">
              <a:buFont typeface="Wingdings" pitchFamily="2" charset="2"/>
              <a:buChar char="v"/>
            </a:pPr>
            <a:endParaRPr lang="en-US" sz="2000" dirty="0" smtClean="0">
              <a:latin typeface="Calibri" pitchFamily="34" charset="0"/>
              <a:cs typeface="Calibri" pitchFamily="34" charset="0"/>
            </a:endParaRPr>
          </a:p>
          <a:p>
            <a:pPr marL="342900" indent="-342900">
              <a:buFont typeface="Wingdings" pitchFamily="2" charset="2"/>
              <a:buChar char="v"/>
            </a:pPr>
            <a:endParaRPr lang="en-US" sz="2000" dirty="0" smtClean="0">
              <a:latin typeface="Calibri" pitchFamily="34" charset="0"/>
              <a:cs typeface="Calibri" pitchFamily="34" charset="0"/>
            </a:endParaRPr>
          </a:p>
          <a:p>
            <a:pPr marL="342900" indent="-342900">
              <a:buFont typeface="Wingdings" pitchFamily="2" charset="2"/>
              <a:buChar char="v"/>
            </a:pPr>
            <a:r>
              <a:rPr lang="en-US" sz="2000" dirty="0" smtClean="0">
                <a:latin typeface="Calibri" pitchFamily="34" charset="0"/>
                <a:cs typeface="Calibri" pitchFamily="34" charset="0"/>
              </a:rPr>
              <a:t>HTML:- Use to create website pages, forms, buttons and structure.</a:t>
            </a:r>
          </a:p>
          <a:p>
            <a:pPr marL="342900" indent="-342900">
              <a:buFont typeface="Wingdings" pitchFamily="2" charset="2"/>
              <a:buChar char="v"/>
            </a:pPr>
            <a:r>
              <a:rPr lang="en-US" sz="2000" dirty="0" smtClean="0">
                <a:latin typeface="Calibri" pitchFamily="34" charset="0"/>
                <a:cs typeface="Calibri" pitchFamily="34" charset="0"/>
              </a:rPr>
              <a:t>CSS:- Use for colors , layout , cards, buttons and responsive designs.</a:t>
            </a:r>
          </a:p>
          <a:p>
            <a:pPr marL="342900" indent="-342900">
              <a:buFont typeface="Wingdings" pitchFamily="2" charset="2"/>
              <a:buChar char="v"/>
            </a:pPr>
            <a:r>
              <a:rPr lang="en-US" sz="2000" dirty="0" smtClean="0">
                <a:latin typeface="Calibri" pitchFamily="34" charset="0"/>
                <a:cs typeface="Calibri" pitchFamily="34" charset="0"/>
              </a:rPr>
              <a:t>Java Script:- Use for cart , search , quantity , checkout and other actions.</a:t>
            </a:r>
          </a:p>
          <a:p>
            <a:pPr marL="342900" indent="-342900">
              <a:buFont typeface="Wingdings" pitchFamily="2" charset="2"/>
              <a:buChar char="v"/>
            </a:pPr>
            <a:r>
              <a:rPr lang="en-US" sz="2000" dirty="0" smtClean="0">
                <a:latin typeface="Calibri" pitchFamily="34" charset="0"/>
                <a:cs typeface="Calibri" pitchFamily="34" charset="0"/>
              </a:rPr>
              <a:t>Tools:- VS code and Web browser are used.</a:t>
            </a:r>
          </a:p>
        </p:txBody>
      </p:sp>
      <p:pic>
        <p:nvPicPr>
          <p:cNvPr id="1026"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43608" y="1844824"/>
            <a:ext cx="6336704" cy="244827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980728"/>
            <a:ext cx="7200800" cy="4708981"/>
          </a:xfrm>
          <a:prstGeom prst="rect">
            <a:avLst/>
          </a:prstGeom>
          <a:noFill/>
        </p:spPr>
        <p:txBody>
          <a:bodyPr wrap="square" rtlCol="0">
            <a:spAutoFit/>
          </a:bodyPr>
          <a:lstStyle/>
          <a:p>
            <a:r>
              <a:rPr lang="en-US" sz="4000" b="1" dirty="0" smtClean="0">
                <a:latin typeface="Bell MT" pitchFamily="18" charset="0"/>
              </a:rPr>
              <a:t> HOME :-</a:t>
            </a:r>
          </a:p>
          <a:p>
            <a:pPr marL="342900" indent="-342900">
              <a:buFont typeface="Wingdings" pitchFamily="2" charset="2"/>
              <a:buChar char="v"/>
            </a:pPr>
            <a:r>
              <a:rPr lang="en-US" sz="2000" dirty="0" smtClean="0">
                <a:latin typeface="Calibri" pitchFamily="34" charset="0"/>
                <a:cs typeface="Calibri" pitchFamily="34" charset="0"/>
              </a:rPr>
              <a:t>  Welcome page of food delivery.</a:t>
            </a:r>
          </a:p>
          <a:p>
            <a:pPr marL="342900" indent="-342900">
              <a:buFont typeface="Wingdings" pitchFamily="2" charset="2"/>
              <a:buChar char="v"/>
            </a:pPr>
            <a:r>
              <a:rPr lang="en-US" sz="2000" dirty="0" smtClean="0">
                <a:latin typeface="Calibri" pitchFamily="34" charset="0"/>
                <a:cs typeface="Calibri" pitchFamily="34" charset="0"/>
              </a:rPr>
              <a:t> Show food image and many items.</a:t>
            </a:r>
          </a:p>
          <a:p>
            <a:pPr marL="342900" indent="-342900">
              <a:buFont typeface="Wingdings" pitchFamily="2" charset="2"/>
              <a:buChar char="v"/>
            </a:pPr>
            <a:r>
              <a:rPr lang="en-US" sz="2000" dirty="0" smtClean="0">
                <a:latin typeface="Calibri" pitchFamily="34" charset="0"/>
                <a:cs typeface="Calibri" pitchFamily="34" charset="0"/>
              </a:rPr>
              <a:t> Provides navigation to the other pages.</a:t>
            </a:r>
          </a:p>
          <a:p>
            <a:pPr marL="342900" indent="-342900">
              <a:buFont typeface="Wingdings" pitchFamily="2" charset="2"/>
              <a:buChar char="v"/>
            </a:pPr>
            <a:endParaRPr lang="en-IN" sz="2000" dirty="0" smtClean="0">
              <a:latin typeface="Calibri" pitchFamily="34" charset="0"/>
              <a:cs typeface="Calibri" pitchFamily="34" charset="0"/>
            </a:endParaRPr>
          </a:p>
          <a:p>
            <a:pPr marL="342900" indent="-342900">
              <a:buFont typeface="Wingdings" pitchFamily="2" charset="2"/>
              <a:buChar char="v"/>
            </a:pPr>
            <a:endParaRPr lang="en-IN" sz="2000" dirty="0" smtClean="0">
              <a:latin typeface="Calibri" pitchFamily="34" charset="0"/>
              <a:cs typeface="Calibri" pitchFamily="34" charset="0"/>
            </a:endParaRPr>
          </a:p>
          <a:p>
            <a:pPr marL="342900" indent="-342900">
              <a:buFont typeface="Wingdings" pitchFamily="2" charset="2"/>
              <a:buChar char="v"/>
            </a:pPr>
            <a:endParaRPr lang="en-IN" sz="2000" dirty="0" smtClean="0">
              <a:latin typeface="Calibri" pitchFamily="34" charset="0"/>
              <a:cs typeface="Calibri" pitchFamily="34" charset="0"/>
            </a:endParaRPr>
          </a:p>
          <a:p>
            <a:pPr marL="342900" indent="-342900">
              <a:buFont typeface="Wingdings" pitchFamily="2" charset="2"/>
              <a:buChar char="v"/>
            </a:pPr>
            <a:endParaRPr lang="en-IN" sz="2000" dirty="0" smtClean="0">
              <a:latin typeface="Calibri" pitchFamily="34" charset="0"/>
              <a:cs typeface="Calibri" pitchFamily="34" charset="0"/>
            </a:endParaRPr>
          </a:p>
          <a:p>
            <a:pPr marL="342900" indent="-342900">
              <a:buFont typeface="Wingdings" pitchFamily="2" charset="2"/>
              <a:buChar char="v"/>
            </a:pPr>
            <a:endParaRPr lang="en-IN" sz="2000" dirty="0" smtClean="0">
              <a:latin typeface="Calibri" pitchFamily="34" charset="0"/>
              <a:cs typeface="Calibri" pitchFamily="34" charset="0"/>
            </a:endParaRPr>
          </a:p>
          <a:p>
            <a:pPr marL="342900" indent="-342900">
              <a:buFont typeface="Wingdings" pitchFamily="2" charset="2"/>
              <a:buChar char="v"/>
            </a:pPr>
            <a:endParaRPr lang="en-IN" sz="2000" dirty="0" smtClean="0">
              <a:latin typeface="Calibri" pitchFamily="34" charset="0"/>
              <a:cs typeface="Calibri" pitchFamily="34" charset="0"/>
            </a:endParaRPr>
          </a:p>
          <a:p>
            <a:pPr marL="342900" indent="-342900">
              <a:buFont typeface="Wingdings" pitchFamily="2" charset="2"/>
              <a:buChar char="v"/>
            </a:pPr>
            <a:endParaRPr lang="en-US" sz="4000" dirty="0" smtClean="0">
              <a:latin typeface="Bell MT" pitchFamily="18" charset="0"/>
            </a:endParaRPr>
          </a:p>
          <a:p>
            <a:endParaRPr lang="en-US" sz="4000" b="1" dirty="0">
              <a:latin typeface="Bell MT" pitchFamily="18" charset="0"/>
            </a:endParaRPr>
          </a:p>
        </p:txBody>
      </p:sp>
      <p:pic>
        <p:nvPicPr>
          <p:cNvPr id="1026" name="Picture 2"/>
          <p:cNvPicPr>
            <a:picLocks noChangeAspect="1" noChangeArrowheads="1"/>
          </p:cNvPicPr>
          <p:nvPr/>
        </p:nvPicPr>
        <p:blipFill>
          <a:blip r:embed="rId2"/>
          <a:srcRect/>
          <a:stretch>
            <a:fillRect/>
          </a:stretch>
        </p:blipFill>
        <p:spPr bwMode="auto">
          <a:xfrm>
            <a:off x="642910" y="2643182"/>
            <a:ext cx="7715304" cy="4071966"/>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1428736"/>
            <a:ext cx="8429684" cy="5016758"/>
          </a:xfrm>
          <a:prstGeom prst="rect">
            <a:avLst/>
          </a:prstGeom>
          <a:noFill/>
        </p:spPr>
        <p:txBody>
          <a:bodyPr wrap="square" rtlCol="0">
            <a:spAutoFit/>
          </a:bodyPr>
          <a:lstStyle/>
          <a:p>
            <a:r>
              <a:rPr lang="en-IN" sz="4000" b="1" dirty="0" smtClean="0">
                <a:latin typeface="Bell MT" pitchFamily="18" charset="0"/>
              </a:rPr>
              <a:t>LOGIN:-</a:t>
            </a:r>
          </a:p>
          <a:p>
            <a:endParaRPr lang="en-IN" sz="2000" b="1"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Allows an existing user to login.</a:t>
            </a:r>
          </a:p>
          <a:p>
            <a:pPr>
              <a:buFont typeface="Wingdings" pitchFamily="2" charset="2"/>
              <a:buChar char="v"/>
            </a:pPr>
            <a:r>
              <a:rPr lang="en-IN" sz="2000" dirty="0" smtClean="0">
                <a:latin typeface="Calibri" pitchFamily="34" charset="0"/>
                <a:ea typeface="Calibri" pitchFamily="34" charset="0"/>
                <a:cs typeface="Calibri" pitchFamily="34" charset="0"/>
              </a:rPr>
              <a:t>Takes basic login information.</a:t>
            </a:r>
          </a:p>
          <a:p>
            <a:pPr>
              <a:buFont typeface="Wingdings" pitchFamily="2" charset="2"/>
              <a:buChar char="v"/>
            </a:pPr>
            <a:r>
              <a:rPr lang="en-IN" sz="2000" dirty="0" smtClean="0">
                <a:latin typeface="Calibri" pitchFamily="34" charset="0"/>
                <a:ea typeface="Calibri" pitchFamily="34" charset="0"/>
                <a:cs typeface="Calibri" pitchFamily="34" charset="0"/>
              </a:rPr>
              <a:t>Provides a simple login interface.</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US" sz="2000" b="1" dirty="0">
              <a:latin typeface="Calibri" pitchFamily="34" charset="0"/>
              <a:ea typeface="Calibri" pitchFamily="34" charset="0"/>
              <a:cs typeface="Calibri" pitchFamily="34" charset="0"/>
            </a:endParaRPr>
          </a:p>
        </p:txBody>
      </p:sp>
      <p:pic>
        <p:nvPicPr>
          <p:cNvPr id="2050" name="Picture 2"/>
          <p:cNvPicPr>
            <a:picLocks noChangeAspect="1" noChangeArrowheads="1"/>
          </p:cNvPicPr>
          <p:nvPr/>
        </p:nvPicPr>
        <p:blipFill>
          <a:blip r:embed="rId2"/>
          <a:srcRect/>
          <a:stretch>
            <a:fillRect/>
          </a:stretch>
        </p:blipFill>
        <p:spPr bwMode="auto">
          <a:xfrm>
            <a:off x="857224" y="3429000"/>
            <a:ext cx="7072362" cy="3286148"/>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928670"/>
            <a:ext cx="7500990" cy="5632311"/>
          </a:xfrm>
          <a:prstGeom prst="rect">
            <a:avLst/>
          </a:prstGeom>
          <a:noFill/>
        </p:spPr>
        <p:txBody>
          <a:bodyPr wrap="square" rtlCol="0">
            <a:spAutoFit/>
          </a:bodyPr>
          <a:lstStyle/>
          <a:p>
            <a:r>
              <a:rPr lang="en-IN" sz="4000" b="1" dirty="0" smtClean="0">
                <a:latin typeface="Bell MT" pitchFamily="18" charset="0"/>
              </a:rPr>
              <a:t>SIGN UP:-</a:t>
            </a:r>
          </a:p>
          <a:p>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Allows a new user to create and account.</a:t>
            </a:r>
          </a:p>
          <a:p>
            <a:pPr>
              <a:buFont typeface="Wingdings" pitchFamily="2" charset="2"/>
              <a:buChar char="v"/>
            </a:pPr>
            <a:r>
              <a:rPr lang="en-IN" sz="2000" dirty="0" smtClean="0">
                <a:latin typeface="Calibri" pitchFamily="34" charset="0"/>
                <a:ea typeface="Calibri" pitchFamily="34" charset="0"/>
                <a:cs typeface="Calibri" pitchFamily="34" charset="0"/>
              </a:rPr>
              <a:t>Collects basic user details.</a:t>
            </a:r>
          </a:p>
          <a:p>
            <a:pPr>
              <a:buFont typeface="Wingdings" pitchFamily="2" charset="2"/>
              <a:buChar char="v"/>
            </a:pPr>
            <a:r>
              <a:rPr lang="en-IN" sz="2000" dirty="0" smtClean="0">
                <a:latin typeface="Calibri" pitchFamily="34" charset="0"/>
                <a:ea typeface="Calibri" pitchFamily="34" charset="0"/>
                <a:cs typeface="Calibri" pitchFamily="34" charset="0"/>
              </a:rPr>
              <a:t>Helps user continue to the ordering process.</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US" sz="2000" dirty="0">
              <a:latin typeface="Calibri" pitchFamily="34" charset="0"/>
              <a:ea typeface="Calibri" pitchFamily="34" charset="0"/>
              <a:cs typeface="Calibri" pitchFamily="34" charset="0"/>
            </a:endParaRPr>
          </a:p>
        </p:txBody>
      </p:sp>
      <p:pic>
        <p:nvPicPr>
          <p:cNvPr id="3074" name="Picture 2"/>
          <p:cNvPicPr>
            <a:picLocks noChangeAspect="1" noChangeArrowheads="1"/>
          </p:cNvPicPr>
          <p:nvPr/>
        </p:nvPicPr>
        <p:blipFill>
          <a:blip r:embed="rId2"/>
          <a:srcRect/>
          <a:stretch>
            <a:fillRect/>
          </a:stretch>
        </p:blipFill>
        <p:spPr bwMode="auto">
          <a:xfrm>
            <a:off x="5500694" y="857232"/>
            <a:ext cx="3502044" cy="571504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785786" y="3071810"/>
            <a:ext cx="4000528" cy="3427413"/>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000108"/>
            <a:ext cx="6929486" cy="4093428"/>
          </a:xfrm>
          <a:prstGeom prst="rect">
            <a:avLst/>
          </a:prstGeom>
          <a:noFill/>
        </p:spPr>
        <p:txBody>
          <a:bodyPr wrap="square" rtlCol="0">
            <a:spAutoFit/>
          </a:bodyPr>
          <a:lstStyle/>
          <a:p>
            <a:r>
              <a:rPr lang="en-IN" sz="4000" b="1" dirty="0" smtClean="0">
                <a:latin typeface="Bell MT" pitchFamily="18" charset="0"/>
              </a:rPr>
              <a:t>MENU:-</a:t>
            </a:r>
          </a:p>
          <a:p>
            <a:pPr>
              <a:buFont typeface="Wingdings" pitchFamily="2" charset="2"/>
              <a:buChar char="v"/>
            </a:pPr>
            <a:r>
              <a:rPr lang="en-IN" sz="2000" dirty="0" smtClean="0">
                <a:latin typeface="Calibri" pitchFamily="34" charset="0"/>
                <a:ea typeface="Calibri" pitchFamily="34" charset="0"/>
                <a:cs typeface="Calibri" pitchFamily="34" charset="0"/>
              </a:rPr>
              <a:t>Displays  food items ,images , prices and categories.</a:t>
            </a:r>
          </a:p>
          <a:p>
            <a:pPr>
              <a:buFont typeface="Wingdings" pitchFamily="2" charset="2"/>
              <a:buChar char="v"/>
            </a:pPr>
            <a:r>
              <a:rPr lang="en-IN" sz="2000" dirty="0" smtClean="0">
                <a:latin typeface="Calibri" pitchFamily="34" charset="0"/>
                <a:ea typeface="Calibri" pitchFamily="34" charset="0"/>
                <a:cs typeface="Calibri" pitchFamily="34" charset="0"/>
              </a:rPr>
              <a:t>Search and category filters help users find food.</a:t>
            </a:r>
          </a:p>
          <a:p>
            <a:pPr>
              <a:buFont typeface="Wingdings" pitchFamily="2" charset="2"/>
              <a:buChar char="v"/>
            </a:pPr>
            <a:r>
              <a:rPr lang="en-IN" sz="2000" dirty="0" smtClean="0">
                <a:latin typeface="Calibri" pitchFamily="34" charset="0"/>
                <a:ea typeface="Calibri" pitchFamily="34" charset="0"/>
                <a:cs typeface="Calibri" pitchFamily="34" charset="0"/>
              </a:rPr>
              <a:t>Add to cart use to select food.</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endParaRPr lang="en-US" sz="2000" dirty="0">
              <a:latin typeface="Calibri" pitchFamily="34" charset="0"/>
              <a:ea typeface="Calibri" pitchFamily="34" charset="0"/>
              <a:cs typeface="Calibri" pitchFamily="34" charset="0"/>
            </a:endParaRPr>
          </a:p>
        </p:txBody>
      </p:sp>
      <p:pic>
        <p:nvPicPr>
          <p:cNvPr id="1026" name="Picture 2"/>
          <p:cNvPicPr>
            <a:picLocks noChangeAspect="1" noChangeArrowheads="1"/>
          </p:cNvPicPr>
          <p:nvPr/>
        </p:nvPicPr>
        <p:blipFill>
          <a:blip r:embed="rId2"/>
          <a:srcRect/>
          <a:stretch>
            <a:fillRect/>
          </a:stretch>
        </p:blipFill>
        <p:spPr bwMode="auto">
          <a:xfrm>
            <a:off x="142844" y="2643182"/>
            <a:ext cx="8748701" cy="4059709"/>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2844" y="857232"/>
            <a:ext cx="8072494" cy="5632311"/>
          </a:xfrm>
          <a:prstGeom prst="rect">
            <a:avLst/>
          </a:prstGeom>
          <a:noFill/>
        </p:spPr>
        <p:txBody>
          <a:bodyPr wrap="square" rtlCol="0">
            <a:spAutoFit/>
          </a:bodyPr>
          <a:lstStyle/>
          <a:p>
            <a:r>
              <a:rPr lang="en-IN" sz="4000" b="1" dirty="0" smtClean="0">
                <a:latin typeface="Bell MT" pitchFamily="18" charset="0"/>
              </a:rPr>
              <a:t>CART:-</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Shows Selected food items.</a:t>
            </a:r>
          </a:p>
          <a:p>
            <a:pPr>
              <a:buFont typeface="Wingdings" pitchFamily="2" charset="2"/>
              <a:buChar char="v"/>
            </a:pPr>
            <a:r>
              <a:rPr lang="en-IN" sz="2000" dirty="0" smtClean="0">
                <a:latin typeface="Calibri" pitchFamily="34" charset="0"/>
                <a:ea typeface="Calibri" pitchFamily="34" charset="0"/>
                <a:cs typeface="Calibri" pitchFamily="34" charset="0"/>
              </a:rPr>
              <a:t>User can change quantity all remove items.</a:t>
            </a:r>
          </a:p>
          <a:p>
            <a:pPr>
              <a:buFont typeface="Wingdings" pitchFamily="2" charset="2"/>
              <a:buChar char="v"/>
            </a:pPr>
            <a:r>
              <a:rPr lang="en-IN" sz="2000" dirty="0" smtClean="0">
                <a:latin typeface="Calibri" pitchFamily="34" charset="0"/>
                <a:ea typeface="Calibri" pitchFamily="34" charset="0"/>
                <a:cs typeface="Calibri" pitchFamily="34" charset="0"/>
              </a:rPr>
              <a:t>Subtotal , delivery free and total are calculated.</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endParaRPr lang="en-US" sz="4000" b="1" dirty="0">
              <a:latin typeface="Bell MT" pitchFamily="18" charset="0"/>
            </a:endParaRPr>
          </a:p>
        </p:txBody>
      </p:sp>
      <p:pic>
        <p:nvPicPr>
          <p:cNvPr id="2050" name="Picture 2"/>
          <p:cNvPicPr>
            <a:picLocks noChangeAspect="1" noChangeArrowheads="1"/>
          </p:cNvPicPr>
          <p:nvPr/>
        </p:nvPicPr>
        <p:blipFill>
          <a:blip r:embed="rId2"/>
          <a:srcRect/>
          <a:stretch>
            <a:fillRect/>
          </a:stretch>
        </p:blipFill>
        <p:spPr bwMode="auto">
          <a:xfrm>
            <a:off x="285720" y="3000372"/>
            <a:ext cx="8375087" cy="3685676"/>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1071546"/>
            <a:ext cx="7286676" cy="5016758"/>
          </a:xfrm>
          <a:prstGeom prst="rect">
            <a:avLst/>
          </a:prstGeom>
          <a:noFill/>
        </p:spPr>
        <p:txBody>
          <a:bodyPr wrap="square" rtlCol="0">
            <a:spAutoFit/>
          </a:bodyPr>
          <a:lstStyle/>
          <a:p>
            <a:r>
              <a:rPr lang="en-IN" sz="4000" b="1" dirty="0" smtClean="0">
                <a:latin typeface="Bell MT" pitchFamily="18" charset="0"/>
              </a:rPr>
              <a:t>CHECK OUT:-</a:t>
            </a:r>
          </a:p>
          <a:p>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Shows the final order summary.</a:t>
            </a:r>
          </a:p>
          <a:p>
            <a:pPr>
              <a:buFont typeface="Wingdings" pitchFamily="2" charset="2"/>
              <a:buChar char="v"/>
            </a:pPr>
            <a:r>
              <a:rPr lang="en-IN" sz="2000" dirty="0" smtClean="0">
                <a:latin typeface="Calibri" pitchFamily="34" charset="0"/>
                <a:ea typeface="Calibri" pitchFamily="34" charset="0"/>
                <a:cs typeface="Calibri" pitchFamily="34" charset="0"/>
              </a:rPr>
              <a:t>Collects customer and delivery details.</a:t>
            </a:r>
          </a:p>
          <a:p>
            <a:pPr>
              <a:buFont typeface="Wingdings" pitchFamily="2" charset="2"/>
              <a:buChar char="v"/>
            </a:pPr>
            <a:r>
              <a:rPr lang="en-IN" sz="2000" dirty="0" smtClean="0">
                <a:latin typeface="Calibri" pitchFamily="34" charset="0"/>
                <a:ea typeface="Calibri" pitchFamily="34" charset="0"/>
                <a:cs typeface="Calibri" pitchFamily="34" charset="0"/>
              </a:rPr>
              <a:t>Place order continues to order conformation.</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p:txBody>
      </p:sp>
      <p:pic>
        <p:nvPicPr>
          <p:cNvPr id="3074" name="Picture 2"/>
          <p:cNvPicPr>
            <a:picLocks noChangeAspect="1" noChangeArrowheads="1"/>
          </p:cNvPicPr>
          <p:nvPr/>
        </p:nvPicPr>
        <p:blipFill>
          <a:blip r:embed="rId2"/>
          <a:srcRect/>
          <a:stretch>
            <a:fillRect/>
          </a:stretch>
        </p:blipFill>
        <p:spPr bwMode="auto">
          <a:xfrm>
            <a:off x="428596" y="2928934"/>
            <a:ext cx="7805720" cy="381291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1071546"/>
            <a:ext cx="7786742" cy="5324535"/>
          </a:xfrm>
          <a:prstGeom prst="rect">
            <a:avLst/>
          </a:prstGeom>
          <a:noFill/>
        </p:spPr>
        <p:txBody>
          <a:bodyPr wrap="square" rtlCol="0">
            <a:spAutoFit/>
          </a:bodyPr>
          <a:lstStyle/>
          <a:p>
            <a:r>
              <a:rPr lang="en-IN" sz="4000" b="1" dirty="0" smtClean="0">
                <a:latin typeface="Bell MT" pitchFamily="18" charset="0"/>
              </a:rPr>
              <a:t>ORDER PLACED:-</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Confirms  that the order has been placed.</a:t>
            </a:r>
          </a:p>
          <a:p>
            <a:pPr>
              <a:buFont typeface="Wingdings" pitchFamily="2" charset="2"/>
              <a:buChar char="v"/>
            </a:pPr>
            <a:r>
              <a:rPr lang="en-IN" sz="2000" dirty="0" smtClean="0">
                <a:latin typeface="Calibri" pitchFamily="34" charset="0"/>
                <a:ea typeface="Calibri" pitchFamily="34" charset="0"/>
                <a:cs typeface="Calibri" pitchFamily="34" charset="0"/>
              </a:rPr>
              <a:t>Shows order information.</a:t>
            </a:r>
          </a:p>
          <a:p>
            <a:pPr>
              <a:buFont typeface="Wingdings" pitchFamily="2" charset="2"/>
              <a:buChar char="v"/>
            </a:pPr>
            <a:r>
              <a:rPr lang="en-IN" sz="2000" dirty="0" smtClean="0">
                <a:latin typeface="Calibri" pitchFamily="34" charset="0"/>
                <a:ea typeface="Calibri" pitchFamily="34" charset="0"/>
                <a:cs typeface="Calibri" pitchFamily="34" charset="0"/>
              </a:rPr>
              <a:t>Provides the next step for viewing the order.</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 </a:t>
            </a:r>
            <a:endParaRPr lang="en-US" sz="2000" dirty="0">
              <a:latin typeface="Calibri" pitchFamily="34" charset="0"/>
              <a:ea typeface="Calibri" pitchFamily="34" charset="0"/>
              <a:cs typeface="Calibri" pitchFamily="34" charset="0"/>
            </a:endParaRPr>
          </a:p>
        </p:txBody>
      </p:sp>
      <p:pic>
        <p:nvPicPr>
          <p:cNvPr id="4098" name="Picture 2"/>
          <p:cNvPicPr>
            <a:picLocks noChangeAspect="1" noChangeArrowheads="1"/>
          </p:cNvPicPr>
          <p:nvPr/>
        </p:nvPicPr>
        <p:blipFill>
          <a:blip r:embed="rId2"/>
          <a:srcRect/>
          <a:stretch>
            <a:fillRect/>
          </a:stretch>
        </p:blipFill>
        <p:spPr bwMode="auto">
          <a:xfrm>
            <a:off x="285720" y="2928934"/>
            <a:ext cx="8143932" cy="3790624"/>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1071546"/>
            <a:ext cx="8215370" cy="5324535"/>
          </a:xfrm>
          <a:prstGeom prst="rect">
            <a:avLst/>
          </a:prstGeom>
          <a:noFill/>
        </p:spPr>
        <p:txBody>
          <a:bodyPr wrap="square" rtlCol="0">
            <a:spAutoFit/>
          </a:bodyPr>
          <a:lstStyle/>
          <a:p>
            <a:r>
              <a:rPr lang="en-IN" sz="4000" b="1" dirty="0" smtClean="0">
                <a:latin typeface="Bell MT" pitchFamily="18" charset="0"/>
              </a:rPr>
              <a:t>ADMIN PANEL:-        </a:t>
            </a:r>
          </a:p>
          <a:p>
            <a:endParaRPr lang="en-IN" sz="2000" b="1" dirty="0" smtClean="0">
              <a:latin typeface="Calibri" pitchFamily="34" charset="0"/>
              <a:ea typeface="Calibri" pitchFamily="34" charset="0"/>
              <a:cs typeface="Calibri" pitchFamily="34" charset="0"/>
            </a:endParaRPr>
          </a:p>
          <a:p>
            <a:pPr>
              <a:buFont typeface="Wingdings" pitchFamily="2" charset="2"/>
              <a:buChar char="v"/>
            </a:pPr>
            <a:r>
              <a:rPr lang="en-IN" sz="2000" dirty="0" smtClean="0">
                <a:latin typeface="Calibri" pitchFamily="34" charset="0"/>
                <a:ea typeface="Calibri" pitchFamily="34" charset="0"/>
                <a:cs typeface="Calibri" pitchFamily="34" charset="0"/>
              </a:rPr>
              <a:t>Provides the admin dashboard .</a:t>
            </a:r>
          </a:p>
          <a:p>
            <a:pPr>
              <a:buFont typeface="Wingdings" pitchFamily="2" charset="2"/>
              <a:buChar char="v"/>
            </a:pPr>
            <a:r>
              <a:rPr lang="en-IN" sz="2000" dirty="0" smtClean="0">
                <a:latin typeface="Calibri" pitchFamily="34" charset="0"/>
                <a:ea typeface="Calibri" pitchFamily="34" charset="0"/>
                <a:cs typeface="Calibri" pitchFamily="34" charset="0"/>
              </a:rPr>
              <a:t>Admin can open Dashboard, Menu and logout.</a:t>
            </a: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dirty="0" smtClean="0">
              <a:latin typeface="Calibri" pitchFamily="34" charset="0"/>
              <a:ea typeface="Calibri" pitchFamily="34" charset="0"/>
              <a:cs typeface="Calibri" pitchFamily="34"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IN" sz="2000" b="1" dirty="0" smtClean="0">
              <a:latin typeface="Calibri" pitchFamily="34" charset="0"/>
              <a:ea typeface="Calibri" pitchFamily="34" charset="0"/>
              <a:cs typeface="Calibri" pitchFamily="34" charset="0"/>
            </a:endParaRPr>
          </a:p>
          <a:p>
            <a:pPr>
              <a:buFont typeface="Wingdings" pitchFamily="2" charset="2"/>
              <a:buChar char="v"/>
            </a:pPr>
            <a:endParaRPr lang="en-US" sz="2000" b="1" dirty="0">
              <a:latin typeface="Calibri" pitchFamily="34" charset="0"/>
              <a:ea typeface="Calibri" pitchFamily="34" charset="0"/>
              <a:cs typeface="Calibri" pitchFamily="34" charset="0"/>
            </a:endParaRPr>
          </a:p>
        </p:txBody>
      </p:sp>
      <p:pic>
        <p:nvPicPr>
          <p:cNvPr id="5122" name="Picture 2"/>
          <p:cNvPicPr>
            <a:picLocks noChangeAspect="1" noChangeArrowheads="1"/>
          </p:cNvPicPr>
          <p:nvPr/>
        </p:nvPicPr>
        <p:blipFill>
          <a:blip r:embed="rId2"/>
          <a:srcRect/>
          <a:stretch>
            <a:fillRect/>
          </a:stretch>
        </p:blipFill>
        <p:spPr bwMode="auto">
          <a:xfrm>
            <a:off x="285720" y="2786058"/>
            <a:ext cx="8465646" cy="3857652"/>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071546"/>
            <a:ext cx="7929618" cy="5940088"/>
          </a:xfrm>
          <a:prstGeom prst="rect">
            <a:avLst/>
          </a:prstGeom>
          <a:noFill/>
        </p:spPr>
        <p:txBody>
          <a:bodyPr wrap="square" rtlCol="0">
            <a:spAutoFit/>
          </a:bodyPr>
          <a:lstStyle/>
          <a:p>
            <a:r>
              <a:rPr lang="en-IN" sz="4000" b="1" dirty="0" smtClean="0">
                <a:latin typeface="Bell MT" pitchFamily="18" charset="0"/>
              </a:rPr>
              <a:t>PROJECT TEAM:-</a:t>
            </a:r>
          </a:p>
          <a:p>
            <a:endParaRPr lang="en-IN" sz="4000" b="1" dirty="0" smtClean="0">
              <a:latin typeface="Bell MT" pitchFamily="18" charset="0"/>
            </a:endParaRPr>
          </a:p>
          <a:p>
            <a:endParaRPr lang="en-IN" sz="4000" b="1" dirty="0" smtClean="0">
              <a:latin typeface="Bell MT" pitchFamily="18" charset="0"/>
            </a:endParaRPr>
          </a:p>
          <a:p>
            <a:endParaRPr lang="en-IN" sz="4000" b="1" dirty="0" smtClean="0">
              <a:latin typeface="Bell MT" pitchFamily="18" charset="0"/>
            </a:endParaRPr>
          </a:p>
          <a:p>
            <a:r>
              <a:rPr lang="en-IN" sz="4000" b="1" dirty="0" smtClean="0">
                <a:latin typeface="Bell MT" pitchFamily="18" charset="0"/>
              </a:rPr>
              <a:t>  </a:t>
            </a:r>
          </a:p>
          <a:p>
            <a:endParaRPr lang="en-IN" sz="4000" b="1" dirty="0" smtClean="0">
              <a:latin typeface="Bell MT" pitchFamily="18" charset="0"/>
            </a:endParaRPr>
          </a:p>
          <a:p>
            <a:endParaRPr lang="en-IN" sz="4000" b="1" dirty="0" smtClean="0">
              <a:latin typeface="Bell MT" pitchFamily="18" charset="0"/>
            </a:endParaRPr>
          </a:p>
          <a:p>
            <a:endParaRPr lang="en-IN" sz="4000" b="1" dirty="0" smtClean="0">
              <a:latin typeface="Bell MT" pitchFamily="18" charset="0"/>
            </a:endParaRPr>
          </a:p>
          <a:p>
            <a:r>
              <a:rPr lang="en-IN" sz="4000" b="1" dirty="0" smtClean="0">
                <a:latin typeface="Bell MT" pitchFamily="18" charset="0"/>
              </a:rPr>
              <a:t>  </a:t>
            </a:r>
          </a:p>
          <a:p>
            <a:endParaRPr lang="en-US" sz="2000" b="1" dirty="0">
              <a:latin typeface="Calibri" pitchFamily="34" charset="0"/>
              <a:ea typeface="Calibri" pitchFamily="34" charset="0"/>
              <a:cs typeface="Calibri" pitchFamily="34" charset="0"/>
            </a:endParaRPr>
          </a:p>
        </p:txBody>
      </p:sp>
      <p:sp>
        <p:nvSpPr>
          <p:cNvPr id="7" name="Oval 6"/>
          <p:cNvSpPr/>
          <p:nvPr/>
        </p:nvSpPr>
        <p:spPr>
          <a:xfrm>
            <a:off x="4857752" y="2143116"/>
            <a:ext cx="3143272" cy="2928958"/>
          </a:xfrm>
          <a:prstGeom prst="ellipse">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8" name="AutoShape 2" descr="C:\Users\HP\AppData\Local\Temp\{9CB1FBAD-1CD6-4EDF-A6F9-18A3D7FDAEBA}.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0" name="AutoShape 4" descr="C:\Users\HP\AppData\Local\Temp\{9CB1FBAD-1CD6-4EDF-A6F9-18A3D7FDAEBA}.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3" name="AutoShape 7" descr="C:\Users\HP\AppData\Local\Temp\{99120418-CF0F-4577-8467-46936B880B6D}.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5" name="AutoShape 9" descr="C:\Users\HP\AppData\Local\Temp\{618308F6-0FF3-4324-997C-664C594261C4}.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7" name="AutoShape 11" descr="C:\Users\HP\AppData\Local\Temp\{E844CF28-0E7E-40C2-B872-27BD5754D544}.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109" name="AutoShape 13" descr="C:\Users\HP\AppData\Local\Temp\{E2B18EF8-AF1D-449F-98A4-27036010789C}.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C:\Users\HP\AppData\Local\Temp\{27FF7348-5BAE-4A8F-8EC2-AA4642DED780}.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4" name="AutoShape 6" descr="C:\Users\HP\AppData\Local\Temp\{79B734A9-1DF2-4261-AEEF-51621952033C}.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3" name="TextBox 22"/>
          <p:cNvSpPr txBox="1"/>
          <p:nvPr/>
        </p:nvSpPr>
        <p:spPr>
          <a:xfrm>
            <a:off x="1000100" y="5429264"/>
            <a:ext cx="6643734" cy="400110"/>
          </a:xfrm>
          <a:prstGeom prst="rect">
            <a:avLst/>
          </a:prstGeom>
          <a:noFill/>
        </p:spPr>
        <p:txBody>
          <a:bodyPr wrap="square" rtlCol="0">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r>
              <a:rPr lang="en-IN" sz="20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Calibri" pitchFamily="34" charset="0"/>
                <a:ea typeface="Calibri" pitchFamily="34" charset="0"/>
                <a:cs typeface="Calibri" pitchFamily="34" charset="0"/>
              </a:rPr>
              <a:t>       </a:t>
            </a:r>
            <a:r>
              <a:rPr lang="en-IN" sz="2000" b="1" cap="all" dirty="0" smtClean="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Calibri" pitchFamily="34" charset="0"/>
                <a:ea typeface="Calibri" pitchFamily="34" charset="0"/>
                <a:cs typeface="Calibri" pitchFamily="34" charset="0"/>
              </a:rPr>
              <a:t>       </a:t>
            </a:r>
            <a:r>
              <a:rPr lang="en-IN" sz="2000" b="1" cap="all" dirty="0" smtClean="0">
                <a:ln w="0">
                  <a:solidFill>
                    <a:schemeClr val="accent6">
                      <a:lumMod val="75000"/>
                    </a:schemeClr>
                  </a:solidFill>
                </a:ln>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Calibri" pitchFamily="34" charset="0"/>
                <a:ea typeface="Calibri" pitchFamily="34" charset="0"/>
                <a:cs typeface="Calibri" pitchFamily="34" charset="0"/>
              </a:rPr>
              <a:t>ANJALI </a:t>
            </a:r>
            <a:r>
              <a:rPr lang="en-IN" sz="2000" b="1" cap="all" dirty="0" smtClean="0">
                <a:ln w="0">
                  <a:solidFill>
                    <a:schemeClr val="accent6">
                      <a:lumMod val="75000"/>
                    </a:schemeClr>
                  </a:solidFill>
                </a:ln>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Calibri" pitchFamily="34" charset="0"/>
                <a:ea typeface="Calibri" pitchFamily="34" charset="0"/>
                <a:cs typeface="Calibri" pitchFamily="34" charset="0"/>
              </a:rPr>
              <a:t>KUMARI                                                 KOMAL</a:t>
            </a:r>
          </a:p>
        </p:txBody>
      </p:sp>
      <p:sp>
        <p:nvSpPr>
          <p:cNvPr id="15" name="Oval 14"/>
          <p:cNvSpPr/>
          <p:nvPr/>
        </p:nvSpPr>
        <p:spPr>
          <a:xfrm>
            <a:off x="1214414" y="2143116"/>
            <a:ext cx="3071834" cy="2928958"/>
          </a:xfrm>
          <a:prstGeom prst="ellipse">
            <a:avLst/>
          </a:prstGeom>
          <a:blipFill>
            <a:blip r:embed="rId3"/>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4" name="AutoShape 2" descr="C:\Users\HP\AppData\Local\Temp\{D1C94623-AF44-41D6-BA34-6AB1908FED1C}.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14348" y="642918"/>
            <a:ext cx="7143800" cy="2554545"/>
          </a:xfrm>
          <a:prstGeom prst="rect">
            <a:avLst/>
          </a:prstGeom>
          <a:noFill/>
        </p:spPr>
        <p:txBody>
          <a:bodyPr wrap="square" rtlCol="0">
            <a:spAutoFit/>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r>
              <a:rPr lang="en-IN" sz="8000" b="1" cap="all" dirty="0" smtClean="0">
                <a:ln>
                  <a:solidFill>
                    <a:schemeClr val="accent5">
                      <a:lumMod val="40000"/>
                      <a:lumOff val="60000"/>
                    </a:schemeClr>
                  </a:solidFill>
                </a:ln>
                <a:solidFill>
                  <a:schemeClr val="accent1"/>
                </a:solidFill>
                <a:effectLst>
                  <a:outerShdw blurRad="50800" dist="38100" dir="5400000" algn="t" rotWithShape="0">
                    <a:prstClr val="black">
                      <a:alpha val="40000"/>
                    </a:prstClr>
                  </a:outerShdw>
                  <a:reflection blurRad="6350" stA="60000" endA="900" endPos="58000" dir="5400000" sy="-100000" algn="bl" rotWithShape="0"/>
                </a:effectLst>
                <a:latin typeface="Bell MT" pitchFamily="18" charset="0"/>
              </a:rPr>
              <a:t>THANK YOU! </a:t>
            </a:r>
          </a:p>
          <a:p>
            <a:r>
              <a:rPr lang="en-IN" sz="80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rPr>
              <a:t> </a:t>
            </a:r>
            <a:r>
              <a:rPr lang="en-IN" sz="8000" b="1" cap="all" dirty="0" smtClean="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Bell MT" pitchFamily="18" charset="0"/>
              </a:rPr>
              <a:t>    </a:t>
            </a:r>
            <a:endParaRPr lang="en-US" sz="5400" b="1" cap="all" dirty="0">
              <a:ln/>
              <a:solidFill>
                <a:schemeClr val="accent1"/>
              </a:solidFill>
              <a:effectLst>
                <a:outerShdw blurRad="19685" dist="12700" dir="5400000" algn="tl" rotWithShape="0">
                  <a:schemeClr val="accent1">
                    <a:satMod val="130000"/>
                    <a:alpha val="60000"/>
                  </a:schemeClr>
                </a:outerShdw>
                <a:reflection blurRad="10000" stA="55000" endPos="48000" dist="500" dir="5400000" sy="-100000" algn="bl" rotWithShape="0"/>
              </a:effectLst>
              <a:latin typeface="Calibri" pitchFamily="34" charset="0"/>
              <a:ea typeface="Calibri" pitchFamily="34" charset="0"/>
              <a:cs typeface="Calibri" pitchFamily="34" charset="0"/>
            </a:endParaRPr>
          </a:p>
        </p:txBody>
      </p:sp>
      <p:sp>
        <p:nvSpPr>
          <p:cNvPr id="6" name="Oval 5"/>
          <p:cNvSpPr/>
          <p:nvPr/>
        </p:nvSpPr>
        <p:spPr>
          <a:xfrm>
            <a:off x="2571736" y="2428868"/>
            <a:ext cx="3786214" cy="3857652"/>
          </a:xfrm>
          <a:prstGeom prst="ellipse">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378</TotalTime>
  <Words>559</Words>
  <Application>Microsoft Office PowerPoint</Application>
  <PresentationFormat>On-screen Show (4:3)</PresentationFormat>
  <Paragraphs>211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Flow</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HP</cp:lastModifiedBy>
  <cp:revision>71</cp:revision>
  <dcterms:created xsi:type="dcterms:W3CDTF">2026-09-21T05:40:49Z</dcterms:created>
  <dcterms:modified xsi:type="dcterms:W3CDTF">2026-09-24T05:53:48Z</dcterms:modified>
</cp:coreProperties>
</file>